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914400"/>
            <a:ext cx="2103120" cy="210312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743200"/>
            <a:ext cx="1234440" cy="1234440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206240"/>
            <a:ext cx="685800" cy="685800"/>
          </a:xfrm>
          <a:prstGeom prst="ellipse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143000"/>
            <a:ext cx="7223760" cy="4526280"/>
          </a:xfrm>
          <a:prstGeom prst="roundRect">
            <a:avLst/>
          </a:prstGeom>
          <a:solidFill>
            <a:srgbClr val="102D4E"/>
          </a:solidFill>
          <a:ln>
            <a:solidFill>
              <a:srgbClr val="24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481328"/>
            <a:ext cx="1600200" cy="347472"/>
          </a:xfrm>
          <a:prstGeom prst="round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65836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8FBFF"/>
                </a:solidFill>
                <a:latin typeface="Aptos"/>
              </a:defRPr>
            </a:pPr>
            <a:r>
              <a:t>STUDENT COUNCIL</a:t>
            </a:r>
            <a:br/>
            <a:r>
              <a:t>ELECTION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C4D6E8"/>
                </a:solidFill>
                <a:latin typeface="Aptos"/>
              </a:defRPr>
            </a:pPr>
            <a:r>
              <a:t>A simple Java-based voting and winner detection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3977639"/>
            <a:ext cx="6263640" cy="1298448"/>
          </a:xfrm>
          <a:prstGeom prst="roundRect">
            <a:avLst/>
          </a:prstGeom>
          <a:solidFill>
            <a:srgbClr val="13375B"/>
          </a:solidFill>
          <a:ln>
            <a:solidFill>
              <a:srgbClr val="33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6052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K. Keerthi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480560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B8CFE2"/>
                </a:solidFill>
                <a:latin typeface="Aptos"/>
              </a:defRPr>
            </a:pPr>
            <a:r>
              <a:t>2620030018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16052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Ch. Ramya Sree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B8CFE2"/>
                </a:solidFill>
                <a:latin typeface="Aptos"/>
              </a:defRPr>
            </a:pPr>
            <a:r>
              <a:t>2620030230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965192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4B537"/>
                </a:solidFill>
                <a:latin typeface="Aptos"/>
              </a:defRPr>
            </a:pPr>
            <a:r>
              <a:t>Faculty Guide: Gopi Krishna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234440"/>
            <a:ext cx="2606040" cy="4069080"/>
          </a:xfrm>
          <a:prstGeom prst="roundRect">
            <a:avLst/>
          </a:prstGeom>
          <a:solidFill>
            <a:srgbClr val="F8FBFF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572768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091B34"/>
                </a:solidFill>
                <a:latin typeface="Aptos"/>
              </a:defRPr>
            </a:pPr>
            <a:r>
              <a:t>BALLOT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96528" y="2331720"/>
            <a:ext cx="1783080" cy="502920"/>
          </a:xfrm>
          <a:prstGeom prst="roundRect">
            <a:avLst/>
          </a:prstGeom>
          <a:solidFill>
            <a:srgbClr val="EBF3FA"/>
          </a:solidFill>
          <a:ln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2441448"/>
            <a:ext cx="228600" cy="228600"/>
          </a:xfrm>
          <a:prstGeom prst="rect">
            <a:avLst/>
          </a:prstGeom>
          <a:solidFill>
            <a:srgbClr val="F8FBFF"/>
          </a:solidFill>
          <a:ln>
            <a:solidFill>
              <a:srgbClr val="1E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423160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Rahul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6528" y="3044952"/>
            <a:ext cx="1783080" cy="502920"/>
          </a:xfrm>
          <a:prstGeom prst="roundRect">
            <a:avLst/>
          </a:prstGeom>
          <a:solidFill>
            <a:srgbClr val="EBF3FA"/>
          </a:solidFill>
          <a:ln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3154680"/>
            <a:ext cx="228600" cy="228600"/>
          </a:xfrm>
          <a:prstGeom prst="rect">
            <a:avLst/>
          </a:prstGeom>
          <a:solidFill>
            <a:srgbClr val="F8FBFF"/>
          </a:solidFill>
          <a:ln>
            <a:solidFill>
              <a:srgbClr val="1E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13639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Priya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3113532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0A6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3758183"/>
            <a:ext cx="1783080" cy="502920"/>
          </a:xfrm>
          <a:prstGeom prst="roundRect">
            <a:avLst/>
          </a:prstGeom>
          <a:solidFill>
            <a:srgbClr val="EBF3FA"/>
          </a:solidFill>
          <a:ln>
            <a:solidFill>
              <a:srgbClr val="D3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42832" y="3867911"/>
            <a:ext cx="228600" cy="228600"/>
          </a:xfrm>
          <a:prstGeom prst="rect">
            <a:avLst/>
          </a:prstGeom>
          <a:solidFill>
            <a:srgbClr val="F8FBFF"/>
          </a:solidFill>
          <a:ln>
            <a:solidFill>
              <a:srgbClr val="1E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849623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Arjun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4800600"/>
            <a:ext cx="2057400" cy="347472"/>
          </a:xfrm>
          <a:prstGeom prst="roundRect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4855464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VOTE • COUNT • 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Turning a basic election process into a Java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246120" cy="278892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874519"/>
            <a:ext cx="566928" cy="566928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5669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3347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91B34"/>
                </a:solidFill>
                <a:latin typeface="Aptos"/>
              </a:defRPr>
            </a:pPr>
            <a:r>
              <a:t>VOTER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A8D"/>
                </a:solidFill>
                <a:latin typeface="Aptos"/>
              </a:defRPr>
            </a:pPr>
            <a:r>
              <a:t>Provides number of voters and candidate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26060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3246120" cy="278892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0" y="1874519"/>
            <a:ext cx="566928" cy="566928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920240"/>
            <a:ext cx="5669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3347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91B34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546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A8D"/>
                </a:solidFill>
                <a:latin typeface="Aptos"/>
              </a:defRPr>
            </a:pPr>
            <a:r>
              <a:t>Validates and records each vote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6060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00200"/>
            <a:ext cx="3246120" cy="278892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49640" y="1874519"/>
            <a:ext cx="566928" cy="566928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920240"/>
            <a:ext cx="5669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33472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91B3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1546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A8D"/>
                </a:solidFill>
                <a:latin typeface="Aptos"/>
              </a:defRPr>
            </a:pPr>
            <a:r>
              <a:t>Counts votes and identifies winner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698480" cy="868680"/>
          </a:xfrm>
          <a:prstGeom prst="roundRect">
            <a:avLst/>
          </a:prstGeom>
          <a:solidFill>
            <a:srgbClr val="09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10912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Core Java: Scanner  •  Arrays  •  for loops  •  if-else  •  Winner calculation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Why automate the election process?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657600" cy="434340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91B34"/>
                </a:solidFill>
                <a:latin typeface="Aptos"/>
              </a:defRPr>
            </a:pPr>
            <a:r>
              <a:t>MANUAL PROCESS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2331720"/>
            <a:ext cx="411480" cy="41148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86584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5000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83A"/>
                </a:solidFill>
                <a:latin typeface="Aptos"/>
              </a:defRPr>
            </a:pPr>
            <a:r>
              <a:t>Write votes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3017520"/>
            <a:ext cx="411480" cy="411480"/>
          </a:xfrm>
          <a:prstGeom prst="ellipse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072384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3580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83A"/>
                </a:solidFill>
                <a:latin typeface="Aptos"/>
              </a:defRPr>
            </a:pPr>
            <a:r>
              <a:t>Count votes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3703320"/>
            <a:ext cx="411480" cy="411480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3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21607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83A"/>
                </a:solidFill>
                <a:latin typeface="Aptos"/>
              </a:defRPr>
            </a:pPr>
            <a:r>
              <a:t>Check errors</a:t>
            </a:r>
          </a:p>
        </p:txBody>
      </p:sp>
      <p:sp>
        <p:nvSpPr>
          <p:cNvPr id="19" name="Oval 18"/>
          <p:cNvSpPr/>
          <p:nvPr/>
        </p:nvSpPr>
        <p:spPr>
          <a:xfrm>
            <a:off x="1234440" y="4389120"/>
            <a:ext cx="411480" cy="411480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443983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407407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83A"/>
                </a:solidFill>
                <a:latin typeface="Aptos"/>
              </a:defRPr>
            </a:pPr>
            <a:r>
              <a:t>Find winner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508760"/>
            <a:ext cx="2971800" cy="150876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1508760"/>
            <a:ext cx="82296" cy="1508760"/>
          </a:xfrm>
          <a:prstGeom prst="rect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17373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91B34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2167128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Repeated manual counting takes effort.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508760"/>
            <a:ext cx="2971800" cy="150876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508760"/>
            <a:ext cx="82296" cy="1508760"/>
          </a:xfrm>
          <a:prstGeom prst="rect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17373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91B3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67128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Manual counting can introduce mistakes.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429000"/>
            <a:ext cx="2971800" cy="150876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3429000"/>
            <a:ext cx="82296" cy="1508760"/>
          </a:xfrm>
          <a:prstGeom prst="rect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6632" y="36576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91B34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4087368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Invalid choices need to be checked.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429000"/>
            <a:ext cx="2971800" cy="150876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429000"/>
            <a:ext cx="82296" cy="1508760"/>
          </a:xfrm>
          <a:prstGeom prst="rect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6576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91B3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087368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Winner identification must be calculated.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3.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01568" cy="16642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64208"/>
            <a:ext cx="457200" cy="45720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2821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91B34"/>
                </a:solidFill>
                <a:latin typeface="Aptos"/>
              </a:defRPr>
            </a:pPr>
            <a:r>
              <a:t>Collect voters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305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7A8D"/>
                </a:solidFill>
                <a:latin typeface="Aptos"/>
              </a:defRPr>
            </a:pPr>
            <a:r>
              <a:t>Read total number of voters.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417320"/>
            <a:ext cx="3401568" cy="16642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1664208"/>
            <a:ext cx="457200" cy="457200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72821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91B34"/>
                </a:solidFill>
                <a:latin typeface="Aptos"/>
              </a:defRPr>
            </a:pPr>
            <a:r>
              <a:t>Show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1305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7A8D"/>
                </a:solidFill>
                <a:latin typeface="Aptos"/>
              </a:defRPr>
            </a:pPr>
            <a:r>
              <a:t>Display three candidate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417320"/>
            <a:ext cx="3401568" cy="16642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49056" y="1664208"/>
            <a:ext cx="457200" cy="457200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172821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16733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91B34"/>
                </a:solidFill>
                <a:latin typeface="Aptos"/>
              </a:defRPr>
            </a:pPr>
            <a:r>
              <a:t>Record votes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1305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7A8D"/>
                </a:solidFill>
                <a:latin typeface="Aptos"/>
              </a:defRPr>
            </a:pPr>
            <a:r>
              <a:t>Increment the selected candidate's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74720"/>
            <a:ext cx="3401568" cy="16642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721608"/>
            <a:ext cx="457200" cy="457200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85615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7307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91B34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1879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7A8D"/>
                </a:solidFill>
                <a:latin typeface="Aptos"/>
              </a:defRPr>
            </a:pPr>
            <a:r>
              <a:t>Reject choices outside 1–3.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474720"/>
            <a:ext cx="3401568" cy="16642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81728" y="3721608"/>
            <a:ext cx="457200" cy="457200"/>
          </a:xfrm>
          <a:prstGeom prst="ellipse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785615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37307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91B34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41879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7A8D"/>
                </a:solidFill>
                <a:latin typeface="Aptos"/>
              </a:defRPr>
            </a:pPr>
            <a:r>
              <a:t>Compare vote counts.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0456" y="3474720"/>
            <a:ext cx="3401568" cy="16642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49056" y="3721608"/>
            <a:ext cx="457200" cy="45720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3785615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373075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91B34"/>
                </a:solidFill>
                <a:latin typeface="Aptos"/>
              </a:defRPr>
            </a:pPr>
            <a:r>
              <a:t>Announce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1879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7A8D"/>
                </a:solidFill>
                <a:latin typeface="Aptos"/>
              </a:defRPr>
            </a:pPr>
            <a:r>
              <a:t>Display winner and votes.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EXISTING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4. Existing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Traditional manual election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91B34"/>
                </a:solidFill>
                <a:latin typeface="Aptos"/>
              </a:defRPr>
            </a:pPr>
            <a:r>
              <a:t>MANUAL ELECTION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83A"/>
                </a:solidFill>
                <a:latin typeface="Aptos"/>
              </a:defRPr>
            </a:pPr>
            <a:r>
              <a:t>Voter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258568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697A8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148840"/>
            <a:ext cx="640080" cy="640080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5856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7180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83A"/>
                </a:solidFill>
                <a:latin typeface="Aptos"/>
              </a:defRPr>
            </a:pPr>
            <a:r>
              <a:t>Record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2258568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697A8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148840"/>
            <a:ext cx="640080" cy="640080"/>
          </a:xfrm>
          <a:prstGeom prst="ellipse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5856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97180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83A"/>
                </a:solidFill>
                <a:latin typeface="Aptos"/>
              </a:defRPr>
            </a:pPr>
            <a:r>
              <a:t>Count votes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258568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697A8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25856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7180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83A"/>
                </a:solidFill>
                <a:latin typeface="Aptos"/>
              </a:defRPr>
            </a:pPr>
            <a:r>
              <a:t>Compare totals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40480"/>
            <a:ext cx="10607040" cy="1417320"/>
          </a:xfrm>
          <a:prstGeom prst="roundRect">
            <a:avLst/>
          </a:prstGeom>
          <a:solidFill>
            <a:srgbClr val="09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0965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4B53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9884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More manual effort   •   Greater chance of counting mistakes   •   Slower result preparation   •   No automatic input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5.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Automated console-based voting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96596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1444752"/>
            <a:ext cx="640080" cy="64008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155448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Voters +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420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1828800"/>
            <a:ext cx="196596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3007" y="1444752"/>
            <a:ext cx="640080" cy="640080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7" y="155448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8716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9260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1 ≤ choice ≤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5420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1828800"/>
            <a:ext cx="196596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24727" y="1444752"/>
            <a:ext cx="640080" cy="640080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4727" y="155448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48716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9260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votes[index]++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25420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828800"/>
            <a:ext cx="196596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56448" y="1444752"/>
            <a:ext cx="640080" cy="640080"/>
          </a:xfrm>
          <a:prstGeom prst="ellipse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155448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248716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59" y="29260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Find 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5420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828800"/>
            <a:ext cx="196596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88168" y="1444752"/>
            <a:ext cx="640080" cy="640080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88168" y="155448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B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48716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9260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Winner + totals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4617720"/>
            <a:ext cx="9875520" cy="749808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4828032"/>
            <a:ext cx="9326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91B34"/>
                </a:solidFill>
                <a:latin typeface="Aptos"/>
              </a:defRPr>
            </a:pPr>
            <a:r>
              <a:t>Proposed result: faster processing + automatic validation + consistent vote counting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6.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Five simple layers of the console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1901952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1901952" cy="109728"/>
          </a:xfrm>
          <a:prstGeom prst="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627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Keyboard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6700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965960"/>
            <a:ext cx="1901952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8648" y="1965960"/>
            <a:ext cx="1901952" cy="109728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395728"/>
            <a:ext cx="1627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JAVA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926080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Scanner + loops +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26700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965960"/>
            <a:ext cx="1901952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02936" y="1965960"/>
            <a:ext cx="1901952" cy="109728"/>
          </a:xfrm>
          <a:prstGeom prst="rect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2395728"/>
            <a:ext cx="1627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ARRAY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926080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candidates[] + votes[]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6700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1965960"/>
            <a:ext cx="1901952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07224" y="1965960"/>
            <a:ext cx="1901952" cy="109728"/>
          </a:xfrm>
          <a:prstGeom prst="rect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4" y="2395728"/>
            <a:ext cx="1627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WINNER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4" y="2926080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maximum vote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6700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BC1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2" y="1965960"/>
            <a:ext cx="1901952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11512" y="1965960"/>
            <a:ext cx="1901952" cy="109728"/>
          </a:xfrm>
          <a:prstGeom prst="rect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2395728"/>
            <a:ext cx="1627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926080"/>
            <a:ext cx="1627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97A8D"/>
                </a:solidFill>
                <a:latin typeface="Aptos"/>
              </a:defRPr>
            </a:pPr>
            <a:r>
              <a:t>results + winner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617720"/>
            <a:ext cx="685800" cy="347472"/>
          </a:xfrm>
          <a:prstGeom prst="roundRect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4672583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608576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Candidate names + vote counters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4617720"/>
            <a:ext cx="777240" cy="347472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4672583"/>
            <a:ext cx="685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08576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Input validation + max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7. Functionalities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Main features implemented in 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029200" cy="1078992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36776"/>
            <a:ext cx="530352" cy="530352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28216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57276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Voter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938528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Reads n using Scanner.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029200" cy="1078992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636776"/>
            <a:ext cx="530352" cy="530352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28216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1" y="157276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Candidate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938528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Shows three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5029200" cy="1078992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054096"/>
            <a:ext cx="530352" cy="530352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45536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299008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3355848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Accepts only 1–3.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88920"/>
            <a:ext cx="5029200" cy="1078992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3054096"/>
            <a:ext cx="530352" cy="530352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45536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1" y="299008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Vote Counter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3355848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votes[choice-1]++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5029200" cy="1078992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471416"/>
            <a:ext cx="530352" cy="530352"/>
          </a:xfrm>
          <a:prstGeom prst="ellipse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62855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4407407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4773168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Displays all totals.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206240"/>
            <a:ext cx="5029200" cy="1078992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4471416"/>
            <a:ext cx="530352" cy="530352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62855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4407407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Winner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4773168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Finds highest count.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77639" y="5669280"/>
            <a:ext cx="4251960" cy="502920"/>
          </a:xfrm>
          <a:prstGeom prst="roundRect">
            <a:avLst/>
          </a:prstGeom>
          <a:solidFill>
            <a:srgbClr val="09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5751576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BC1D3"/>
                </a:solidFill>
                <a:latin typeface="Consolas"/>
              </a:defRPr>
            </a:pPr>
            <a:r>
              <a:t>votes[choice - 1]++;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"/>
              </a:defRPr>
            </a:pPr>
            <a:r>
              <a:t>8. Implementation – Java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BECFE1"/>
                </a:solidFill>
                <a:latin typeface="Aptos"/>
              </a:defRPr>
            </a:pPr>
            <a:r>
              <a:t>Key code blocks used in the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493008" cy="4251960"/>
          </a:xfrm>
          <a:prstGeom prst="roundRect">
            <a:avLst/>
          </a:prstGeom>
          <a:solidFill>
            <a:srgbClr val="131D2B"/>
          </a:solidFill>
          <a:ln>
            <a:solidFill>
              <a:srgbClr val="2E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234440" cy="347472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143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297180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E2EDF7"/>
                </a:solidFill>
                <a:latin typeface="Consolas"/>
              </a:defRPr>
            </a:pPr>
            <a:r>
              <a:t>String[] candidates = {</a:t>
            </a:r>
            <a:br/>
            <a:r>
              <a:t> "Candidate 1 - Rahul",</a:t>
            </a:r>
            <a:br/>
            <a:r>
              <a:t> "Candidate 2 - Priya",</a:t>
            </a:r>
            <a:br/>
            <a:r>
              <a:t> "Candidate 3 - Arjun"</a:t>
            </a:r>
            <a:br/>
            <a:r>
              <a:t>};</a:t>
            </a:r>
            <a:br/>
            <a:r>
              <a:t>int[] votes = new int[3];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93008" cy="4251960"/>
          </a:xfrm>
          <a:prstGeom prst="roundRect">
            <a:avLst/>
          </a:prstGeom>
          <a:solidFill>
            <a:srgbClr val="131D2B"/>
          </a:solidFill>
          <a:ln>
            <a:solidFill>
              <a:srgbClr val="2E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1645920"/>
            <a:ext cx="1234440" cy="347472"/>
          </a:xfrm>
          <a:prstGeom prst="round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00784"/>
            <a:ext cx="1143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40280"/>
            <a:ext cx="297180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E2EDF7"/>
                </a:solidFill>
                <a:latin typeface="Consolas"/>
              </a:defRPr>
            </a:pPr>
            <a:r>
              <a:t>if (choice &gt;= 1 &amp;&amp;</a:t>
            </a:r>
            <a:br/>
            <a:r>
              <a:t>    choice &lt;= 3) {</a:t>
            </a:r>
            <a:br/>
            <a:r>
              <a:t>    votes[choice - 1]++;</a:t>
            </a:r>
            <a:br/>
            <a:r>
              <a:t>} else {</a:t>
            </a:r>
            <a:br/>
            <a:r>
              <a:t>    System.out.println(</a:t>
            </a:r>
            <a:br/>
            <a:r>
              <a:t>      "Invalid choice!");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493008" cy="4251960"/>
          </a:xfrm>
          <a:prstGeom prst="roundRect">
            <a:avLst/>
          </a:prstGeom>
          <a:solidFill>
            <a:srgbClr val="131D2B"/>
          </a:solidFill>
          <a:ln>
            <a:solidFill>
              <a:srgbClr val="2E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645920"/>
            <a:ext cx="1234440" cy="347472"/>
          </a:xfrm>
          <a:prstGeom prst="roundRect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00784"/>
            <a:ext cx="1143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WINNER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40280"/>
            <a:ext cx="297180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E2EDF7"/>
                </a:solidFill>
                <a:latin typeface="Consolas"/>
              </a:defRPr>
            </a:pPr>
            <a:r>
              <a:t>int maxVotes = votes[0];</a:t>
            </a:r>
            <a:br/>
            <a:r>
              <a:t>int winner = 0;</a:t>
            </a:r>
            <a:br/>
            <a:br/>
            <a:r>
              <a:t>for (int i = 1;</a:t>
            </a:r>
            <a:br/>
            <a:r>
              <a:t>     i &lt; votes.length; i++) {</a:t>
            </a:r>
            <a:br/>
            <a:r>
              <a:t>  if (votes[i] &gt; maxVotes) {</a:t>
            </a:r>
            <a:br/>
            <a:r>
              <a:t>    maxVotes = votes[i];</a:t>
            </a:r>
            <a:br/>
            <a:r>
              <a:t>    winner = i;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Java concepts used: Scanner  •  String[]  •  int[]  •  for  •  if-else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9. Output 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Representative verified console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6903720" cy="4800600"/>
          </a:xfrm>
          <a:prstGeom prst="roundRect">
            <a:avLst/>
          </a:prstGeom>
          <a:solidFill>
            <a:srgbClr val="141C27"/>
          </a:solidFill>
          <a:ln>
            <a:solidFill>
              <a:srgbClr val="2F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903720" cy="384048"/>
          </a:xfrm>
          <a:prstGeom prst="rect">
            <a:avLst/>
          </a:prstGeom>
          <a:solidFill>
            <a:srgbClr val="1F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353312"/>
            <a:ext cx="100584" cy="100584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1288" y="1353312"/>
            <a:ext cx="100584" cy="100584"/>
          </a:xfrm>
          <a:prstGeom prst="ellipse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08176" y="1353312"/>
            <a:ext cx="100584" cy="100584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810512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Enter number of voters: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075688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AEBE1"/>
                </a:solidFill>
                <a:latin typeface="Consolas"/>
              </a:defRPr>
            </a:pPr>
            <a:r>
              <a:t>Voter 1 → choice: 1   ✓ Vote recorded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340864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AEBE1"/>
                </a:solidFill>
                <a:latin typeface="Consolas"/>
              </a:defRPr>
            </a:pPr>
            <a:r>
              <a:t>Voter 2 → choice: 2   ✓ Vote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06039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AEBE1"/>
                </a:solidFill>
                <a:latin typeface="Consolas"/>
              </a:defRPr>
            </a:pPr>
            <a:r>
              <a:t>Voter 3 → choice: 3   ✓ Vote 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871215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Voter 4 → choice: 4   ✕ Invalid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136391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AEBE1"/>
                </a:solidFill>
                <a:latin typeface="Consolas"/>
              </a:defRPr>
            </a:pPr>
            <a:r>
              <a:t>Voter 5 → choice: 1   ✓ Vote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401568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87552" y="3666744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========== ELECTION RESULTS ==========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931920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AEBE1"/>
                </a:solidFill>
                <a:latin typeface="Consolas"/>
              </a:defRPr>
            </a:pPr>
            <a:r>
              <a:t>Rahul : 2 votes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197096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Priya : 1 votes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462272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Arjun : 1 votes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727448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87552" y="4992623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AEBE1"/>
                </a:solidFill>
                <a:latin typeface="Consolas"/>
              </a:defRPr>
            </a:pPr>
            <a:r>
              <a:t>========== WINNER ==========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257800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Winner: Candidate 1 - Rahul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522975"/>
            <a:ext cx="6263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0">
                <a:solidFill>
                  <a:srgbClr val="DEE6EF"/>
                </a:solidFill>
                <a:latin typeface="Consolas"/>
              </a:defRPr>
            </a:pPr>
            <a:r>
              <a:t>Votes: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1234440"/>
            <a:ext cx="3474720" cy="480060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62763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91B34"/>
                </a:solidFill>
                <a:latin typeface="Aptos"/>
              </a:defRPr>
            </a:pPr>
            <a:r>
              <a:t>FINAL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23160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Rahul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450591"/>
            <a:ext cx="1508760" cy="219456"/>
          </a:xfrm>
          <a:prstGeom prst="roundRect">
            <a:avLst/>
          </a:prstGeom>
          <a:solidFill>
            <a:srgbClr val="D2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26880" y="2450591"/>
            <a:ext cx="1499616" cy="219456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54512" y="2414016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91B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172968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Priya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3200399"/>
            <a:ext cx="1508760" cy="219456"/>
          </a:xfrm>
          <a:prstGeom prst="roundRect">
            <a:avLst/>
          </a:prstGeom>
          <a:solidFill>
            <a:srgbClr val="D2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26880" y="3200399"/>
            <a:ext cx="749808" cy="219456"/>
          </a:xfrm>
          <a:prstGeom prst="round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54512" y="316382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91B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922776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83A"/>
                </a:solidFill>
                <a:latin typeface="Aptos"/>
              </a:defRPr>
            </a:pPr>
            <a:r>
              <a:t>Arjun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950208"/>
            <a:ext cx="1508760" cy="219456"/>
          </a:xfrm>
          <a:prstGeom prst="roundRect">
            <a:avLst/>
          </a:prstGeom>
          <a:solidFill>
            <a:srgbClr val="D2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26880" y="3950208"/>
            <a:ext cx="749808" cy="219456"/>
          </a:xfrm>
          <a:prstGeom prst="roundRect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54512" y="391363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91B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4892040"/>
            <a:ext cx="2331720" cy="56692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5010912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BFF"/>
                </a:solidFill>
                <a:latin typeface="Aptos"/>
              </a:defRPr>
            </a:pPr>
            <a:r>
              <a:t>WINNER: RAHUL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10.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How the project can be extended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01568" cy="169164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673352"/>
            <a:ext cx="502920" cy="50292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190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7335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More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1305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Allow dynamic candidate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01568" cy="169164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0872" y="1673352"/>
            <a:ext cx="502920" cy="502920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190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67335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1305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Store election records permanently.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3401568" cy="169164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85632" y="1673352"/>
            <a:ext cx="502920" cy="502920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7190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167335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GUI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13055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Create a graphical voting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39"/>
            <a:ext cx="3401568" cy="169164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" y="3776472"/>
            <a:ext cx="502920" cy="502920"/>
          </a:xfrm>
          <a:prstGeom prst="ellipse">
            <a:avLst/>
          </a:prstGeom>
          <a:solidFill>
            <a:srgbClr val="D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822191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37764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3367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Add secure voter verification.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520439"/>
            <a:ext cx="3401568" cy="169164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90872" y="3776472"/>
            <a:ext cx="502920" cy="502920"/>
          </a:xfrm>
          <a:prstGeom prst="ellipse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822191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37764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423367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Show charts and vote distribution.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520439"/>
            <a:ext cx="3401568" cy="1691640"/>
          </a:xfrm>
          <a:prstGeom prst="roundRect">
            <a:avLst/>
          </a:prstGeom>
          <a:solidFill>
            <a:srgbClr val="F8FB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85632" y="3776472"/>
            <a:ext cx="502920" cy="50292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3822191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377647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91B34"/>
                </a:solidFill>
                <a:latin typeface="Aptos"/>
              </a:defRPr>
            </a:pPr>
            <a:r>
              <a:t>Web / Mobile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4233672"/>
            <a:ext cx="2148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97A8D"/>
                </a:solidFill>
                <a:latin typeface="Aptos"/>
              </a:defRPr>
            </a:pPr>
            <a:r>
              <a:t>Deploy for larger elections.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56032"/>
            <a:ext cx="1874519" cy="384048"/>
          </a:xfrm>
          <a:prstGeom prst="roundRect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0" y="283464"/>
            <a:ext cx="1691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A8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91B34"/>
                </a:solidFill>
                <a:latin typeface="Aptos"/>
              </a:defRPr>
            </a:pPr>
            <a:r>
              <a:t>11.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A8D"/>
                </a:solidFill>
                <a:latin typeface="Aptos"/>
              </a:defRPr>
            </a:pPr>
            <a:r>
              <a:t>A complete Java workflow for a basic student 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3337560"/>
          </a:xfrm>
          <a:prstGeom prst="roundRect">
            <a:avLst/>
          </a:prstGeom>
          <a:solidFill>
            <a:srgbClr val="09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4B537"/>
                </a:solidFill>
                <a:latin typeface="Aptos"/>
              </a:defRPr>
            </a:pPr>
            <a:r>
              <a:t>PROJECT ACHIEVEMENTS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331720"/>
            <a:ext cx="658368" cy="658368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B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BECFE1"/>
                </a:solidFill>
                <a:latin typeface="Aptos"/>
              </a:defRPr>
            </a:pPr>
            <a:r>
              <a:t>Accepts voter count + choices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0" y="2331720"/>
            <a:ext cx="658368" cy="658368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441448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B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200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365760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BECFE1"/>
                </a:solidFill>
                <a:latin typeface="Aptos"/>
              </a:defRPr>
            </a:pPr>
            <a:r>
              <a:t>Validates and records votes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2331720"/>
            <a:ext cx="658368" cy="658368"/>
          </a:xfrm>
          <a:prstGeom prst="ellipse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441448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B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200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B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5760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BECFE1"/>
                </a:solidFill>
                <a:latin typeface="Aptos"/>
              </a:defRPr>
            </a:pPr>
            <a:r>
              <a:t>Calculates totals + winner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5074920"/>
            <a:ext cx="978408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5239512"/>
            <a:ext cx="9235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91B34"/>
                </a:solidFill>
                <a:latin typeface="Aptos"/>
              </a:defRPr>
            </a:pPr>
            <a:r>
              <a:t>The project demonstrates practical use of Java fundamentals in a real-world style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00600" y="1005840"/>
            <a:ext cx="2560320" cy="2560320"/>
          </a:xfrm>
          <a:prstGeom prst="ellipse">
            <a:avLst/>
          </a:prstGeom>
          <a:solidFill>
            <a:srgbClr val="1E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57800" y="1463040"/>
            <a:ext cx="1645920" cy="1645920"/>
          </a:xfrm>
          <a:prstGeom prst="ellipse">
            <a:avLst/>
          </a:prstGeom>
          <a:solidFill>
            <a:srgbClr val="2B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57800" y="1828800"/>
            <a:ext cx="1645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8FB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94760"/>
            <a:ext cx="8138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8FB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526280"/>
            <a:ext cx="79552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C0D6E8"/>
                </a:solidFill>
                <a:latin typeface="Aptos"/>
              </a:defRPr>
            </a:pPr>
            <a:r>
              <a:t>Student Council Election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257800"/>
            <a:ext cx="3886200" cy="347472"/>
          </a:xfrm>
          <a:prstGeom prst="roundRect">
            <a:avLst/>
          </a:prstGeom>
          <a:solidFill>
            <a:srgbClr val="F4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5312664"/>
            <a:ext cx="3794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8FBFF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