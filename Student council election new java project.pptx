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8" r:id="rId22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Inter" panose="02000503000000020004"/>
      <p:regular r:id="rId19"/>
    </p:embeddedFont>
    <p:embeddedFont>
      <p:font typeface="DM Serif Display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094474-1ACC-4CA3-B1BC-11F7EB5117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fld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73e011123018092c_1_111:notes"/>
          <p:cNvSpPr txBox="1"/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h73e011123018092c_1_111:notes"/>
          <p:cNvSpPr/>
          <p:nvPr>
            <p:ph type="sldImg" idx="2"/>
          </p:nvPr>
        </p:nvSpPr>
        <p:spPr>
          <a:xfrm>
            <a:off x="1143164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3123fe07b92234b2_2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h3123fe07b92234b2_2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h3123fe07b92234b2_2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73e011123018092c_1_304:notes"/>
          <p:cNvSpPr txBox="1"/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h73e011123018092c_1_304:notes"/>
          <p:cNvSpPr/>
          <p:nvPr>
            <p:ph type="sldImg" idx="2"/>
          </p:nvPr>
        </p:nvSpPr>
        <p:spPr>
          <a:xfrm>
            <a:off x="1143164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3123fe07b92234b2_2_9:notes"/>
          <p:cNvSpPr txBox="1"/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h3123fe07b92234b2_2_9:notes"/>
          <p:cNvSpPr/>
          <p:nvPr>
            <p:ph type="sldImg" idx="2"/>
          </p:nvPr>
        </p:nvSpPr>
        <p:spPr>
          <a:xfrm>
            <a:off x="1143164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73e011123018092c_1_218:notes"/>
          <p:cNvSpPr txBox="1"/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h73e011123018092c_1_218:notes"/>
          <p:cNvSpPr/>
          <p:nvPr>
            <p:ph type="sldImg" idx="2"/>
          </p:nvPr>
        </p:nvSpPr>
        <p:spPr>
          <a:xfrm>
            <a:off x="1143164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dt" idx="10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type="ftr" idx="11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sldNum" idx="12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2192000" cy="91500"/>
          </a:xfrm>
          <a:prstGeom prst="rect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8778474" y="914400"/>
            <a:ext cx="2103000" cy="2103000"/>
          </a:xfrm>
          <a:prstGeom prst="ellipse">
            <a:avLst/>
          </a:prstGeom>
          <a:solidFill>
            <a:srgbClr val="1E66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9601456" y="2743200"/>
            <a:ext cx="1234500" cy="1234500"/>
          </a:xfrm>
          <a:prstGeom prst="ellipse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8046935" y="4206240"/>
            <a:ext cx="685800" cy="685800"/>
          </a:xfrm>
          <a:prstGeom prst="ellipse">
            <a:avLst/>
          </a:prstGeom>
          <a:solidFill>
            <a:srgbClr val="F4B5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58386" y="1143000"/>
            <a:ext cx="7224000" cy="4526400"/>
          </a:xfrm>
          <a:prstGeom prst="roundRect">
            <a:avLst>
              <a:gd name="adj" fmla="val 16667"/>
            </a:avLst>
          </a:prstGeom>
          <a:solidFill>
            <a:srgbClr val="102D4E"/>
          </a:solidFill>
          <a:ln w="9525" cap="flat" cmpd="sng">
            <a:solidFill>
              <a:srgbClr val="244A6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60146" y="1481328"/>
            <a:ext cx="1600200" cy="347400"/>
          </a:xfrm>
          <a:prstGeom prst="roundRect">
            <a:avLst>
              <a:gd name="adj" fmla="val 16667"/>
            </a:avLst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1005867" y="1536192"/>
            <a:ext cx="1508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 MINI PROJECT</a:t>
            </a:r>
            <a:endParaRPr lang="en-US" sz="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932713" y="1938528"/>
            <a:ext cx="65841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STUDENT COUNCIL</a:t>
            </a:r>
            <a:br>
              <a:rPr lang="en-US" sz="34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34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ELECTION SYSTEM</a:t>
            </a:r>
            <a:endParaRPr lang="en-US" sz="34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960146" y="3273552"/>
            <a:ext cx="630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4D6E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simple Java-based voting and winner detection system</a:t>
            </a:r>
            <a:endParaRPr lang="en-US" sz="1600" b="0" i="0" u="none" strike="noStrike" cap="none">
              <a:solidFill>
                <a:srgbClr val="C4D6E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41857" y="3977639"/>
            <a:ext cx="6264000" cy="1298400"/>
          </a:xfrm>
          <a:prstGeom prst="roundRect">
            <a:avLst>
              <a:gd name="adj" fmla="val 16667"/>
            </a:avLst>
          </a:prstGeom>
          <a:solidFill>
            <a:srgbClr val="13375B"/>
          </a:solidFill>
          <a:ln w="9525" cap="flat" cmpd="sng">
            <a:solidFill>
              <a:srgbClr val="335B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1170463" y="4160520"/>
            <a:ext cx="237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 Keerthi</a:t>
            </a:r>
            <a:endParaRPr lang="en-US" sz="14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1170463" y="4480560"/>
            <a:ext cx="2377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CFE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2620030018</a:t>
            </a:r>
            <a:endParaRPr lang="en-US" sz="1000" b="0" i="0" u="none" strike="noStrike" cap="none">
              <a:solidFill>
                <a:srgbClr val="B8CFE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3657698" y="4160520"/>
            <a:ext cx="237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Ch. Ramya Sree</a:t>
            </a:r>
            <a:endParaRPr lang="en-US" sz="14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3657698" y="4480560"/>
            <a:ext cx="2377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CFE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2620030230</a:t>
            </a:r>
            <a:endParaRPr lang="en-US" sz="1000" b="0" i="0" u="none" strike="noStrike" cap="none">
              <a:solidFill>
                <a:srgbClr val="B8CFE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170463" y="496519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4B53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Faculty Guide: Gopi Krishna</a:t>
            </a:r>
            <a:endParaRPr lang="en-US" sz="1100" b="1" i="0" u="none" strike="noStrike" cap="none">
              <a:solidFill>
                <a:srgbClr val="F4B53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458425" y="1234440"/>
            <a:ext cx="2606100" cy="4069200"/>
          </a:xfrm>
          <a:prstGeom prst="roundRect">
            <a:avLst>
              <a:gd name="adj" fmla="val 16667"/>
            </a:avLst>
          </a:prstGeom>
          <a:solidFill>
            <a:srgbClr val="F8FBFF"/>
          </a:solidFill>
          <a:ln w="9525" cap="flat" cmpd="sng">
            <a:solidFill>
              <a:srgbClr val="CDDC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824195" y="1572768"/>
            <a:ext cx="187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91B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BALLOT</a:t>
            </a:r>
            <a:endParaRPr lang="en-US" sz="2200" b="1" i="0" u="none" strike="noStrike" cap="none">
              <a:solidFill>
                <a:srgbClr val="091B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796762" y="2331720"/>
            <a:ext cx="1783200" cy="50280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 w="9525" cap="flat" cmpd="sng">
            <a:solidFill>
              <a:srgbClr val="D3E1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943070" y="2441448"/>
            <a:ext cx="228600" cy="2286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1E66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9281407" y="2423160"/>
            <a:ext cx="1051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928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Rahul</a:t>
            </a:r>
            <a:endParaRPr lang="en-US" sz="1100" b="1" i="0" u="none" strike="noStrike" cap="none">
              <a:solidFill>
                <a:srgbClr val="1928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796762" y="3044952"/>
            <a:ext cx="1783200" cy="50280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 w="9525" cap="flat" cmpd="sng">
            <a:solidFill>
              <a:srgbClr val="D3E1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943070" y="3154680"/>
            <a:ext cx="228600" cy="2286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1E66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9281407" y="3136392"/>
            <a:ext cx="1051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928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Priya</a:t>
            </a:r>
            <a:endParaRPr lang="en-US" sz="1100" b="1" i="0" u="none" strike="noStrike" cap="none">
              <a:solidFill>
                <a:srgbClr val="1928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8943070" y="3113532"/>
            <a:ext cx="22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0A6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✓</a:t>
            </a:r>
            <a:endParaRPr lang="en-US" sz="1400" b="1" i="0" u="none" strike="noStrike" cap="none">
              <a:solidFill>
                <a:srgbClr val="30A6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796762" y="3758183"/>
            <a:ext cx="1783200" cy="50280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 w="9525" cap="flat" cmpd="sng">
            <a:solidFill>
              <a:srgbClr val="D3E1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943070" y="3867911"/>
            <a:ext cx="228600" cy="2286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1E66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281407" y="3849623"/>
            <a:ext cx="1051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928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Arjun</a:t>
            </a:r>
            <a:endParaRPr lang="en-US" sz="1100" b="1" i="0" u="none" strike="noStrike" cap="none">
              <a:solidFill>
                <a:srgbClr val="1928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732753" y="4800600"/>
            <a:ext cx="2057400" cy="347400"/>
          </a:xfrm>
          <a:prstGeom prst="roundRect">
            <a:avLst>
              <a:gd name="adj" fmla="val 16667"/>
            </a:avLst>
          </a:prstGeom>
          <a:solidFill>
            <a:srgbClr val="F4B5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8778474" y="4855464"/>
            <a:ext cx="196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VOTE • COUNT • WIN</a:t>
            </a:r>
            <a:endParaRPr lang="en-US" sz="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371850" y="359675"/>
            <a:ext cx="9509700" cy="5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</a:rPr>
              <a:t>Project Abstract:</a:t>
            </a:r>
            <a:endParaRPr sz="2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300">
                <a:solidFill>
                  <a:srgbClr val="FFFFFF"/>
                </a:solidFill>
              </a:rPr>
              <a:t>This project introduces a console-based </a:t>
            </a:r>
            <a:r>
              <a:rPr lang="en-US" sz="2300" b="1">
                <a:solidFill>
                  <a:srgbClr val="FFFFFF"/>
                </a:solidFill>
              </a:rPr>
              <a:t>Student Council Election System</a:t>
            </a:r>
            <a:r>
              <a:rPr lang="en-US" sz="2300">
                <a:solidFill>
                  <a:srgbClr val="FFFFFF"/>
                </a:solidFill>
              </a:rPr>
              <a:t> in Java to replace error-prone manual paper ballot workflows. The system reads voter choices using 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Scanner</a:t>
            </a:r>
            <a:r>
              <a:rPr lang="en-US" sz="2300">
                <a:solidFill>
                  <a:srgbClr val="FFFFFF"/>
                </a:solidFill>
              </a:rPr>
              <a:t>, blocks incorrect choices instantly via strict input validation (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 &lt;= choice &lt;= 3</a:t>
            </a:r>
            <a:r>
              <a:rPr lang="en-US" sz="2300">
                <a:solidFill>
                  <a:srgbClr val="FFFFFF"/>
                </a:solidFill>
              </a:rPr>
              <a:t>), and updates totals through array index tracking (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votes[choice - 1]++</a:t>
            </a:r>
            <a:r>
              <a:rPr lang="en-US" sz="2300">
                <a:solidFill>
                  <a:srgbClr val="FFFFFF"/>
                </a:solidFill>
              </a:rPr>
              <a:t>). Once polling ends, a sequential search loop automatically finds the winner.</a:t>
            </a:r>
            <a:endParaRPr sz="23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300">
                <a:solidFill>
                  <a:srgbClr val="FFFFFF"/>
                </a:solidFill>
              </a:rPr>
              <a:t>To satisfy advanced Java requirements, the application wraps data into an encapsulated object model (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ElectionReport</a:t>
            </a:r>
            <a:r>
              <a:rPr lang="en-US" sz="2300">
                <a:solidFill>
                  <a:srgbClr val="FFFFFF"/>
                </a:solidFill>
              </a:rPr>
              <a:t>) using private fields and public getters. It demonstrates string value checking with 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.equals()</a:t>
            </a:r>
            <a:r>
              <a:rPr lang="en-US" sz="2300">
                <a:solidFill>
                  <a:srgbClr val="FFFFFF"/>
                </a:solidFill>
              </a:rPr>
              <a:t> versus memory pointer checking with 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==</a:t>
            </a:r>
            <a:r>
              <a:rPr lang="en-US" sz="2300">
                <a:solidFill>
                  <a:srgbClr val="FFFFFF"/>
                </a:solidFill>
              </a:rPr>
              <a:t>, and leverages generic collections by storing these objects inside a dynamic, auto-resizing 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ArrayList</a:t>
            </a:r>
            <a:r>
              <a:rPr lang="en-US" sz="2300">
                <a:solidFill>
                  <a:srgbClr val="FFFFFF"/>
                </a:solidFill>
              </a:rPr>
              <a:t> processed via a clean </a:t>
            </a:r>
            <a:r>
              <a:rPr lang="en-US" sz="215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for-each</a:t>
            </a:r>
            <a:r>
              <a:rPr lang="en-US" sz="2300">
                <a:solidFill>
                  <a:srgbClr val="FFFFFF"/>
                </a:solidFill>
              </a:rPr>
              <a:t> filter loop.</a:t>
            </a:r>
            <a:endParaRPr sz="23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12192000" cy="91500"/>
          </a:xfrm>
          <a:prstGeom prst="rect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594376" y="384048"/>
            <a:ext cx="87786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8FBFF"/>
                </a:solidFill>
              </a:rPr>
              <a:t>Understanding Problem Statement:</a:t>
            </a:r>
            <a:endParaRPr sz="2800" b="1">
              <a:solidFill>
                <a:srgbClr val="F8FBFF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8FB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Why Manual Voting Needs Replacing</a:t>
            </a:r>
            <a:endParaRPr sz="2700">
              <a:solidFill>
                <a:srgbClr val="F8FB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091B34"/>
              </a:solidFill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777261" y="1417320"/>
            <a:ext cx="274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ED3D8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MANUAL ELECTION</a:t>
            </a:r>
            <a:endParaRPr>
              <a:solidFill>
                <a:srgbClr val="ED3D8C"/>
              </a:solidFill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14424" y="2148840"/>
            <a:ext cx="640200" cy="640200"/>
          </a:xfrm>
          <a:prstGeom prst="ellipse">
            <a:avLst/>
          </a:prstGeom>
          <a:solidFill>
            <a:srgbClr val="1E66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914424" y="2258568"/>
            <a:ext cx="640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2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502933" y="2971800"/>
            <a:ext cx="1463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Voter list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1627675" y="2258568"/>
            <a:ext cx="68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429091" y="2148840"/>
            <a:ext cx="640200" cy="640200"/>
          </a:xfrm>
          <a:prstGeom prst="ellipse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3429091" y="2258568"/>
            <a:ext cx="640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2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3017600" y="2971800"/>
            <a:ext cx="14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Record choice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4142342" y="2258568"/>
            <a:ext cx="68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943758" y="2148840"/>
            <a:ext cx="640200" cy="640200"/>
          </a:xfrm>
          <a:prstGeom prst="ellipse">
            <a:avLst/>
          </a:prstGeom>
          <a:solidFill>
            <a:srgbClr val="EF923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5943758" y="2258568"/>
            <a:ext cx="640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2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5532267" y="2971800"/>
            <a:ext cx="14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Count votes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6657009" y="2258568"/>
            <a:ext cx="68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8458425" y="2148840"/>
            <a:ext cx="640200" cy="640200"/>
          </a:xfrm>
          <a:prstGeom prst="ellipse">
            <a:avLst/>
          </a:prstGeom>
          <a:solidFill>
            <a:srgbClr val="D54949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8458425" y="2258568"/>
            <a:ext cx="640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2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8046935" y="2971800"/>
            <a:ext cx="14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Compare totals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77261" y="3840480"/>
            <a:ext cx="10607400" cy="1417200"/>
          </a:xfrm>
          <a:prstGeom prst="roundRect">
            <a:avLst>
              <a:gd name="adj" fmla="val 16667"/>
            </a:avLst>
          </a:prstGeom>
          <a:solidFill>
            <a:srgbClr val="091B3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051588" y="4096512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D3D8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LIMITATIONS</a:t>
            </a:r>
            <a:endParaRPr>
              <a:solidFill>
                <a:srgbClr val="ED3D8C"/>
              </a:solidFill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1051588" y="4498848"/>
            <a:ext cx="9875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More manual effort   •   Greater chance of counting mistakes   •   Slower result preparation   •   No automatic input validation</a:t>
            </a:r>
            <a:endParaRPr lang="en-US" sz="1200" b="0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the Voting Workflow Runs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cxnSp>
        <p:nvCxnSpPr>
          <p:cNvPr id="85" name="Google Shape;85;p7"/>
          <p:cNvCxnSpPr/>
          <p:nvPr/>
        </p:nvCxnSpPr>
        <p:spPr>
          <a:xfrm>
            <a:off x="-186475" y="2295329"/>
            <a:ext cx="12239700" cy="0"/>
          </a:xfrm>
          <a:prstGeom prst="straightConnector1">
            <a:avLst/>
          </a:prstGeom>
          <a:noFill/>
          <a:ln w="20850" cap="flat" cmpd="sng">
            <a:solidFill>
              <a:srgbClr val="ED3D8C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7"/>
          <p:cNvCxnSpPr/>
          <p:nvPr/>
        </p:nvCxnSpPr>
        <p:spPr>
          <a:xfrm>
            <a:off x="1410252" y="2324329"/>
            <a:ext cx="0" cy="417004"/>
          </a:xfrm>
          <a:prstGeom prst="straightConnector1">
            <a:avLst/>
          </a:prstGeom>
          <a:noFill/>
          <a:ln w="20850" cap="flat" cmpd="sng">
            <a:solidFill>
              <a:srgbClr val="ED3D8C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7"/>
          <p:cNvSpPr/>
          <p:nvPr/>
        </p:nvSpPr>
        <p:spPr>
          <a:xfrm>
            <a:off x="0" y="2741396"/>
            <a:ext cx="2934900" cy="1302600"/>
          </a:xfrm>
          <a:prstGeom prst="roundRect">
            <a:avLst>
              <a:gd name="adj" fmla="val 6402"/>
            </a:avLst>
          </a:prstGeom>
          <a:solidFill>
            <a:srgbClr val="161416"/>
          </a:solidFill>
          <a:ln w="104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7"/>
          <p:cNvSpPr/>
          <p:nvPr/>
        </p:nvSpPr>
        <p:spPr>
          <a:xfrm>
            <a:off x="1160050" y="2074126"/>
            <a:ext cx="500405" cy="500405"/>
          </a:xfrm>
          <a:prstGeom prst="ellipse">
            <a:avLst/>
          </a:prstGeom>
          <a:solidFill>
            <a:srgbClr val="060507"/>
          </a:solidFill>
          <a:ln w="12700" cap="flat" cmpd="sng">
            <a:solidFill>
              <a:srgbClr val="06050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7"/>
          <p:cNvSpPr/>
          <p:nvPr/>
        </p:nvSpPr>
        <p:spPr>
          <a:xfrm>
            <a:off x="1222600" y="2136677"/>
            <a:ext cx="375304" cy="375304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7"/>
          <p:cNvSpPr/>
          <p:nvPr/>
        </p:nvSpPr>
        <p:spPr>
          <a:xfrm>
            <a:off x="1222600" y="2136677"/>
            <a:ext cx="375304" cy="375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0507"/>
              </a:buClr>
              <a:buSzPts val="1313"/>
              <a:buFont typeface="Inter" panose="02000503000000020004"/>
              <a:buNone/>
            </a:pPr>
            <a:r>
              <a:rPr lang="en-US" sz="1315" b="1" i="0" u="none" strike="noStrike" cap="none">
                <a:solidFill>
                  <a:srgbClr val="06050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09652" y="2908135"/>
            <a:ext cx="2601300" cy="1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313"/>
              <a:buFont typeface="DM Serif Display"/>
              <a:buNone/>
            </a:pPr>
            <a:r>
              <a:rPr lang="en-US" sz="131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Goals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09652" y="3176686"/>
            <a:ext cx="2601201" cy="46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313"/>
              <a:buFont typeface="Inter" panose="02000503000000020004"/>
              <a:buNone/>
            </a:pPr>
            <a:r>
              <a:rPr lang="en-US" sz="131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Read the voter count, show the choices, and automate tracking.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cxnSp>
        <p:nvCxnSpPr>
          <p:cNvPr id="93" name="Google Shape;93;p7"/>
          <p:cNvCxnSpPr/>
          <p:nvPr/>
        </p:nvCxnSpPr>
        <p:spPr>
          <a:xfrm>
            <a:off x="4511859" y="2324329"/>
            <a:ext cx="0" cy="417004"/>
          </a:xfrm>
          <a:prstGeom prst="straightConnector1">
            <a:avLst/>
          </a:prstGeom>
          <a:noFill/>
          <a:ln w="20850" cap="flat" cmpd="sng">
            <a:solidFill>
              <a:srgbClr val="ED3D8C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7"/>
          <p:cNvSpPr/>
          <p:nvPr/>
        </p:nvSpPr>
        <p:spPr>
          <a:xfrm>
            <a:off x="3044457" y="2741333"/>
            <a:ext cx="2934805" cy="1302722"/>
          </a:xfrm>
          <a:prstGeom prst="roundRect">
            <a:avLst>
              <a:gd name="adj" fmla="val 6402"/>
            </a:avLst>
          </a:prstGeom>
          <a:solidFill>
            <a:srgbClr val="161416"/>
          </a:solidFill>
          <a:ln w="104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7"/>
          <p:cNvSpPr/>
          <p:nvPr/>
        </p:nvSpPr>
        <p:spPr>
          <a:xfrm>
            <a:off x="4261656" y="2074126"/>
            <a:ext cx="500405" cy="500405"/>
          </a:xfrm>
          <a:prstGeom prst="ellipse">
            <a:avLst/>
          </a:prstGeom>
          <a:solidFill>
            <a:srgbClr val="060507"/>
          </a:solidFill>
          <a:ln w="12700" cap="flat" cmpd="sng">
            <a:solidFill>
              <a:srgbClr val="06050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7"/>
          <p:cNvSpPr/>
          <p:nvPr/>
        </p:nvSpPr>
        <p:spPr>
          <a:xfrm>
            <a:off x="4324207" y="2136677"/>
            <a:ext cx="375304" cy="375304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7"/>
          <p:cNvSpPr/>
          <p:nvPr/>
        </p:nvSpPr>
        <p:spPr>
          <a:xfrm>
            <a:off x="4324207" y="2136677"/>
            <a:ext cx="375304" cy="375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0507"/>
              </a:buClr>
              <a:buSzPts val="1313"/>
              <a:buFont typeface="Inter" panose="02000503000000020004"/>
              <a:buNone/>
            </a:pPr>
            <a:r>
              <a:rPr lang="en-US" sz="1315" b="1" i="0" u="none" strike="noStrike" cap="none">
                <a:solidFill>
                  <a:srgbClr val="06050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211259" y="2908135"/>
            <a:ext cx="2601201" cy="18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313"/>
              <a:buFont typeface="DM Serif Display"/>
              <a:buNone/>
            </a:pPr>
            <a:r>
              <a:rPr lang="en-US" sz="131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Input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11259" y="3176686"/>
            <a:ext cx="2601201" cy="46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313"/>
              <a:buFont typeface="Inter" panose="02000503000000020004"/>
              <a:buNone/>
            </a:pPr>
            <a:r>
              <a:rPr lang="en-US" sz="131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Voter totals and choices are read from the keyboard.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7613466" y="2324329"/>
            <a:ext cx="0" cy="417004"/>
          </a:xfrm>
          <a:prstGeom prst="straightConnector1">
            <a:avLst/>
          </a:prstGeom>
          <a:noFill/>
          <a:ln w="20850" cap="flat" cmpd="sng">
            <a:solidFill>
              <a:srgbClr val="ED3D8C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7"/>
          <p:cNvSpPr/>
          <p:nvPr/>
        </p:nvSpPr>
        <p:spPr>
          <a:xfrm>
            <a:off x="6146063" y="2741333"/>
            <a:ext cx="2934805" cy="1302722"/>
          </a:xfrm>
          <a:prstGeom prst="roundRect">
            <a:avLst>
              <a:gd name="adj" fmla="val 6402"/>
            </a:avLst>
          </a:prstGeom>
          <a:solidFill>
            <a:srgbClr val="161416"/>
          </a:solidFill>
          <a:ln w="104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7"/>
          <p:cNvSpPr/>
          <p:nvPr/>
        </p:nvSpPr>
        <p:spPr>
          <a:xfrm>
            <a:off x="7363263" y="2074126"/>
            <a:ext cx="500405" cy="500405"/>
          </a:xfrm>
          <a:prstGeom prst="ellipse">
            <a:avLst/>
          </a:prstGeom>
          <a:solidFill>
            <a:srgbClr val="060507"/>
          </a:solidFill>
          <a:ln w="12700" cap="flat" cmpd="sng">
            <a:solidFill>
              <a:srgbClr val="06050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7"/>
          <p:cNvSpPr/>
          <p:nvPr/>
        </p:nvSpPr>
        <p:spPr>
          <a:xfrm>
            <a:off x="7425814" y="2136677"/>
            <a:ext cx="375304" cy="375304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7"/>
          <p:cNvSpPr/>
          <p:nvPr/>
        </p:nvSpPr>
        <p:spPr>
          <a:xfrm>
            <a:off x="7425814" y="2136677"/>
            <a:ext cx="375304" cy="375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0507"/>
              </a:buClr>
              <a:buSzPts val="1313"/>
              <a:buFont typeface="Inter" panose="02000503000000020004"/>
              <a:buNone/>
            </a:pPr>
            <a:r>
              <a:rPr lang="en-US" sz="1315" b="1" i="0" u="none" strike="noStrike" cap="none">
                <a:solidFill>
                  <a:srgbClr val="06050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312865" y="2908135"/>
            <a:ext cx="2601201" cy="18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313"/>
              <a:buFont typeface="DM Serif Display"/>
              <a:buNone/>
            </a:pPr>
            <a:r>
              <a:rPr lang="en-US" sz="131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Filter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312865" y="3176686"/>
            <a:ext cx="2601201" cy="46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313"/>
              <a:buFont typeface="Inter" panose="02000503000000020004"/>
              <a:buNone/>
            </a:pPr>
            <a:r>
              <a:rPr lang="en-US" sz="131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Strict selection limits are enforced, `1 &lt;= choice &lt;= 3`.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10715073" y="2324329"/>
            <a:ext cx="0" cy="417004"/>
          </a:xfrm>
          <a:prstGeom prst="straightConnector1">
            <a:avLst/>
          </a:prstGeom>
          <a:noFill/>
          <a:ln w="20850" cap="flat" cmpd="sng">
            <a:solidFill>
              <a:srgbClr val="ED3D8C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7"/>
          <p:cNvSpPr/>
          <p:nvPr/>
        </p:nvSpPr>
        <p:spPr>
          <a:xfrm>
            <a:off x="9247670" y="2741333"/>
            <a:ext cx="2934805" cy="1302722"/>
          </a:xfrm>
          <a:prstGeom prst="roundRect">
            <a:avLst>
              <a:gd name="adj" fmla="val 6402"/>
            </a:avLst>
          </a:prstGeom>
          <a:solidFill>
            <a:srgbClr val="161416"/>
          </a:solidFill>
          <a:ln w="104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7"/>
          <p:cNvSpPr/>
          <p:nvPr/>
        </p:nvSpPr>
        <p:spPr>
          <a:xfrm>
            <a:off x="10464870" y="2074126"/>
            <a:ext cx="500405" cy="500405"/>
          </a:xfrm>
          <a:prstGeom prst="ellipse">
            <a:avLst/>
          </a:prstGeom>
          <a:solidFill>
            <a:srgbClr val="060507"/>
          </a:solidFill>
          <a:ln w="12700" cap="flat" cmpd="sng">
            <a:solidFill>
              <a:srgbClr val="06050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7"/>
          <p:cNvSpPr/>
          <p:nvPr/>
        </p:nvSpPr>
        <p:spPr>
          <a:xfrm>
            <a:off x="10527421" y="2136677"/>
            <a:ext cx="375304" cy="375304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7"/>
          <p:cNvSpPr/>
          <p:nvPr/>
        </p:nvSpPr>
        <p:spPr>
          <a:xfrm>
            <a:off x="10527421" y="2136677"/>
            <a:ext cx="375304" cy="375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0507"/>
              </a:buClr>
              <a:buSzPts val="1313"/>
              <a:buFont typeface="Inter" panose="02000503000000020004"/>
              <a:buNone/>
            </a:pPr>
            <a:r>
              <a:rPr lang="en-US" sz="1315" b="1" i="0" u="none" strike="noStrike" cap="none">
                <a:solidFill>
                  <a:srgbClr val="06050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414472" y="2908135"/>
            <a:ext cx="2601201" cy="18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313"/>
              <a:buFont typeface="DM Serif Display"/>
              <a:buNone/>
            </a:pPr>
            <a:r>
              <a:rPr lang="en-US" sz="131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Save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414472" y="3176686"/>
            <a:ext cx="2601201" cy="70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313"/>
              <a:buFont typeface="Inter" panose="02000503000000020004"/>
              <a:buNone/>
            </a:pPr>
            <a:r>
              <a:rPr lang="en-US" sz="131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tracker counter is incremented via `votes[choice - 1]++`.</a:t>
            </a:r>
            <a:endParaRPr sz="131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Architecture at a Glance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05650" y="1719538"/>
            <a:ext cx="5803200" cy="1521900"/>
          </a:xfrm>
          <a:prstGeom prst="rect">
            <a:avLst/>
          </a:prstGeom>
          <a:solidFill>
            <a:srgbClr val="ED3D8C">
              <a:alpha val="0"/>
            </a:srgbClr>
          </a:solidFill>
          <a:ln w="987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21" name="Google Shape;121;p8"/>
          <p:cNvSpPr/>
          <p:nvPr/>
        </p:nvSpPr>
        <p:spPr>
          <a:xfrm>
            <a:off x="455496" y="2246950"/>
            <a:ext cx="5387561" cy="17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47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UI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55496" y="2482113"/>
            <a:ext cx="5387561" cy="22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47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Captures standard keyboard console inputs directly.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169672" y="1714500"/>
            <a:ext cx="5803253" cy="1521765"/>
          </a:xfrm>
          <a:prstGeom prst="rect">
            <a:avLst/>
          </a:prstGeom>
          <a:solidFill>
            <a:srgbClr val="ED3D8C">
              <a:alpha val="0"/>
            </a:srgbClr>
          </a:solidFill>
          <a:ln w="987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24" name="Google Shape;124;p8"/>
          <p:cNvSpPr/>
          <p:nvPr/>
        </p:nvSpPr>
        <p:spPr>
          <a:xfrm>
            <a:off x="6377518" y="2071175"/>
            <a:ext cx="5387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47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Logic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377518" y="2482113"/>
            <a:ext cx="5387561" cy="22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47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Coordinates execution loops, conditions, and `Scanner`.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47650" y="3355035"/>
            <a:ext cx="5803253" cy="1521765"/>
          </a:xfrm>
          <a:prstGeom prst="rect">
            <a:avLst/>
          </a:prstGeom>
          <a:solidFill>
            <a:srgbClr val="ED3D8C">
              <a:alpha val="0"/>
            </a:srgbClr>
          </a:solidFill>
          <a:ln w="987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27" name="Google Shape;127;p8"/>
          <p:cNvSpPr/>
          <p:nvPr/>
        </p:nvSpPr>
        <p:spPr>
          <a:xfrm>
            <a:off x="455496" y="3706710"/>
            <a:ext cx="5387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47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Arrays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5496" y="4347748"/>
            <a:ext cx="53877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47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Stores candidate names in `String[]` and tallies in `int[]`.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169672" y="3355035"/>
            <a:ext cx="5803253" cy="1521765"/>
          </a:xfrm>
          <a:prstGeom prst="rect">
            <a:avLst/>
          </a:prstGeom>
          <a:solidFill>
            <a:srgbClr val="ED3D8C">
              <a:alpha val="0"/>
            </a:srgbClr>
          </a:solidFill>
          <a:ln w="987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30" name="Google Shape;130;p8"/>
          <p:cNvSpPr/>
          <p:nvPr/>
        </p:nvSpPr>
        <p:spPr>
          <a:xfrm>
            <a:off x="6377518" y="3887485"/>
            <a:ext cx="5387561" cy="17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47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Search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377518" y="4122648"/>
            <a:ext cx="5387561" cy="22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47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Runs a linear loop to find the maximum counts.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0" y="0"/>
            <a:ext cx="12192000" cy="91500"/>
          </a:xfrm>
          <a:prstGeom prst="rect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9647177" y="256032"/>
            <a:ext cx="1874400" cy="384000"/>
          </a:xfrm>
          <a:prstGeom prst="roundRect">
            <a:avLst>
              <a:gd name="adj" fmla="val 16667"/>
            </a:avLst>
          </a:prstGeom>
          <a:solidFill>
            <a:srgbClr val="1E66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9738620" y="283464"/>
            <a:ext cx="169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IMPLEMENTATION</a:t>
            </a:r>
            <a:endParaRPr lang="en-US" sz="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11293141" y="6355080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97A8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09</a:t>
            </a:r>
            <a:endParaRPr lang="en-US" sz="900" b="1" i="0" u="none" strike="noStrike" cap="none">
              <a:solidFill>
                <a:srgbClr val="697A8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594376" y="384048"/>
            <a:ext cx="877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8. Implementation – Java Code</a:t>
            </a:r>
            <a:endParaRPr lang="en-US" sz="2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621809" y="914400"/>
            <a:ext cx="9052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BECFE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code blocks used in the project</a:t>
            </a:r>
            <a:endParaRPr lang="en-US" sz="1100" b="0" i="0" u="none" strike="noStrike" cap="none">
              <a:solidFill>
                <a:srgbClr val="BECFE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48655" y="1417320"/>
            <a:ext cx="3492900" cy="4251900"/>
          </a:xfrm>
          <a:prstGeom prst="roundRect">
            <a:avLst>
              <a:gd name="adj" fmla="val 16667"/>
            </a:avLst>
          </a:prstGeom>
          <a:solidFill>
            <a:srgbClr val="131D2B"/>
          </a:solidFill>
          <a:ln w="9525" cap="flat" cmpd="sng">
            <a:solidFill>
              <a:srgbClr val="2E435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77261" y="1645920"/>
            <a:ext cx="1234500" cy="347400"/>
          </a:xfrm>
          <a:prstGeom prst="roundRect">
            <a:avLst>
              <a:gd name="adj" fmla="val 16667"/>
            </a:avLst>
          </a:prstGeom>
          <a:solidFill>
            <a:srgbClr val="1E66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822982" y="1700784"/>
            <a:ext cx="114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CANDIDATES</a:t>
            </a:r>
            <a:endParaRPr lang="en-US" sz="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804693" y="224028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9"/>
          <p:cNvSpPr/>
          <p:nvPr/>
        </p:nvSpPr>
        <p:spPr>
          <a:xfrm>
            <a:off x="4389237" y="1417320"/>
            <a:ext cx="3492900" cy="4251900"/>
          </a:xfrm>
          <a:prstGeom prst="roundRect">
            <a:avLst>
              <a:gd name="adj" fmla="val 16667"/>
            </a:avLst>
          </a:prstGeom>
          <a:solidFill>
            <a:srgbClr val="131D2B"/>
          </a:solidFill>
          <a:ln w="9525" cap="flat" cmpd="sng">
            <a:solidFill>
              <a:srgbClr val="2E435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617843" y="1645920"/>
            <a:ext cx="1234500" cy="347400"/>
          </a:xfrm>
          <a:prstGeom prst="roundRect">
            <a:avLst>
              <a:gd name="adj" fmla="val 16667"/>
            </a:avLst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4663564" y="1700784"/>
            <a:ext cx="114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VALIDATION</a:t>
            </a:r>
            <a:endParaRPr lang="en-US" sz="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4645276" y="224028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9"/>
          <p:cNvSpPr/>
          <p:nvPr/>
        </p:nvSpPr>
        <p:spPr>
          <a:xfrm>
            <a:off x="8229819" y="1417320"/>
            <a:ext cx="3492900" cy="4251900"/>
          </a:xfrm>
          <a:prstGeom prst="roundRect">
            <a:avLst>
              <a:gd name="adj" fmla="val 16667"/>
            </a:avLst>
          </a:prstGeom>
          <a:solidFill>
            <a:srgbClr val="131D2B"/>
          </a:solidFill>
          <a:ln w="9525" cap="flat" cmpd="sng">
            <a:solidFill>
              <a:srgbClr val="2E435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458425" y="1645920"/>
            <a:ext cx="1234500" cy="347400"/>
          </a:xfrm>
          <a:prstGeom prst="roundRect">
            <a:avLst>
              <a:gd name="adj" fmla="val 16667"/>
            </a:avLst>
          </a:prstGeom>
          <a:solidFill>
            <a:srgbClr val="F4B5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8504147" y="1700784"/>
            <a:ext cx="114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WINNER</a:t>
            </a:r>
            <a:endParaRPr lang="en-US" sz="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8485858" y="224028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9"/>
          <p:cNvSpPr txBox="1"/>
          <p:nvPr/>
        </p:nvSpPr>
        <p:spPr>
          <a:xfrm>
            <a:off x="1005867" y="5897880"/>
            <a:ext cx="10150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 concepts used: Scanner  •  String[]  •  int[]  •  for  •  if-else</a:t>
            </a:r>
            <a:endParaRPr lang="en-US" sz="12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" name="Picture 0" descr="Screenshot 2026-10-16 1058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975" y="1902460"/>
            <a:ext cx="3570605" cy="3663315"/>
          </a:xfrm>
          <a:prstGeom prst="rect">
            <a:avLst/>
          </a:prstGeom>
        </p:spPr>
      </p:pic>
      <p:pic>
        <p:nvPicPr>
          <p:cNvPr id="2" name="Picture 1" descr="Screenshot 2026-10-16 1057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930" y="2014855"/>
            <a:ext cx="3406140" cy="3504565"/>
          </a:xfrm>
          <a:prstGeom prst="rect">
            <a:avLst/>
          </a:prstGeom>
        </p:spPr>
      </p:pic>
      <p:pic>
        <p:nvPicPr>
          <p:cNvPr id="4" name="Picture 3" descr="Screenshot 2026-10-16 105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6940"/>
            <a:ext cx="3416300" cy="3115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Module 4: Object-Oriented Design with Election Report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57200" y="1333500"/>
            <a:ext cx="5581800" cy="241950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62" name="Google Shape;162;p10"/>
          <p:cNvSpPr/>
          <p:nvPr/>
        </p:nvSpPr>
        <p:spPr>
          <a:xfrm>
            <a:off x="847800" y="2154188"/>
            <a:ext cx="4800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Class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847725" y="2549652"/>
            <a:ext cx="4800600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 external `Election Report` blueprint template is created.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153150" y="1333500"/>
            <a:ext cx="5581650" cy="24193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65" name="Google Shape;165;p10"/>
          <p:cNvSpPr/>
          <p:nvPr/>
        </p:nvSpPr>
        <p:spPr>
          <a:xfrm>
            <a:off x="6543675" y="2323338"/>
            <a:ext cx="4800600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Object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543675" y="2549652"/>
            <a:ext cx="4800600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`new` converts array outputs into objects.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" y="3867150"/>
            <a:ext cx="5581650" cy="24193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68" name="Google Shape;168;p10"/>
          <p:cNvSpPr/>
          <p:nvPr/>
        </p:nvSpPr>
        <p:spPr>
          <a:xfrm>
            <a:off x="847725" y="4750308"/>
            <a:ext cx="4800600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7800" y="5179622"/>
            <a:ext cx="48006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Fields are hidden as `private` and exposed through `public` getters.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153150" y="3867150"/>
            <a:ext cx="5581650" cy="24193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71" name="Google Shape;171;p10"/>
          <p:cNvSpPr/>
          <p:nvPr/>
        </p:nvSpPr>
        <p:spPr>
          <a:xfrm>
            <a:off x="6543675" y="4750301"/>
            <a:ext cx="4800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State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543675" y="5083297"/>
            <a:ext cx="48006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`this` is used for keywords, and `toString()` is overridden.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B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8. Output – Student Council Election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1EB"/>
                </a:solidFill>
                <a:latin typeface="Arial"/>
              </a:defRPr>
            </a:pPr>
            <a:r>
              <a:t>Console output: voting results, winner detection, and Module 4–6 concepts</a:t>
            </a:r>
          </a:p>
        </p:txBody>
      </p:sp>
      <p:pic>
        <p:nvPicPr>
          <p:cNvPr id="5" name="Picture 4" descr="JAVA PROJECT NEW OUTPUT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0" y="1234440"/>
            <a:ext cx="6278933" cy="5184648"/>
          </a:xfrm>
          <a:prstGeom prst="rect">
            <a:avLst/>
          </a:prstGeom>
        </p:spPr>
      </p:pic>
      <p:pic>
        <p:nvPicPr>
          <p:cNvPr id="6" name="Picture 5" descr="JAVA PROJECT NEW OUTPUT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083" y="2956752"/>
            <a:ext cx="4393996" cy="1740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0620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2BEDC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Module 5: String Comparison and Case Handling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90500" y="1905000"/>
            <a:ext cx="5845670" cy="1535607"/>
          </a:xfrm>
          <a:prstGeom prst="rect">
            <a:avLst/>
          </a:prstGeom>
          <a:solidFill>
            <a:srgbClr val="ED3D8C">
              <a:alpha val="0"/>
            </a:srgbClr>
          </a:solidFill>
          <a:ln w="9950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11"/>
          <p:cNvSpPr/>
          <p:nvPr/>
        </p:nvSpPr>
        <p:spPr>
          <a:xfrm>
            <a:off x="399906" y="2442656"/>
            <a:ext cx="5426857" cy="17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56"/>
              <a:buFont typeface="DM Serif Display"/>
              <a:buNone/>
            </a:pPr>
            <a:r>
              <a:rPr lang="en-US" sz="125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Heap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99906" y="2679584"/>
            <a:ext cx="5426857" cy="223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56"/>
              <a:buFont typeface="Inter" panose="02000503000000020004"/>
              <a:buNone/>
            </a:pPr>
            <a:r>
              <a:rPr lang="en-US" sz="125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String literals are immutable, so edits copy into new blocks.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155830" y="1905000"/>
            <a:ext cx="5845670" cy="1535607"/>
          </a:xfrm>
          <a:prstGeom prst="rect">
            <a:avLst/>
          </a:prstGeom>
          <a:solidFill>
            <a:srgbClr val="ED3D8C">
              <a:alpha val="0"/>
            </a:srgbClr>
          </a:solidFill>
          <a:ln w="9950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11"/>
          <p:cNvSpPr/>
          <p:nvPr/>
        </p:nvSpPr>
        <p:spPr>
          <a:xfrm>
            <a:off x="6365237" y="2442656"/>
            <a:ext cx="5426857" cy="17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56"/>
              <a:buFont typeface="DM Serif Display"/>
              <a:buNone/>
            </a:pPr>
            <a:r>
              <a:rPr lang="en-US" sz="125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Match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6365237" y="2679584"/>
            <a:ext cx="5426857" cy="223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56"/>
              <a:buFont typeface="Inter" panose="02000503000000020004"/>
              <a:buNone/>
            </a:pPr>
            <a:r>
              <a:rPr lang="en-US" sz="125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`.equals()` checks the values inside, returning `true` for a match.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90500" y="3560268"/>
            <a:ext cx="5845670" cy="1535607"/>
          </a:xfrm>
          <a:prstGeom prst="rect">
            <a:avLst/>
          </a:prstGeom>
          <a:solidFill>
            <a:srgbClr val="ED3D8C">
              <a:alpha val="0"/>
            </a:srgbClr>
          </a:solidFill>
          <a:ln w="9950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11"/>
          <p:cNvSpPr/>
          <p:nvPr/>
        </p:nvSpPr>
        <p:spPr>
          <a:xfrm>
            <a:off x="399906" y="4097924"/>
            <a:ext cx="5426857" cy="17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56"/>
              <a:buFont typeface="DM Serif Display"/>
              <a:buNone/>
            </a:pPr>
            <a:r>
              <a:rPr lang="en-US" sz="125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Pointer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99906" y="4334852"/>
            <a:ext cx="5426857" cy="223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56"/>
              <a:buFont typeface="Inter" panose="02000503000000020004"/>
              <a:buNone/>
            </a:pPr>
            <a:r>
              <a:rPr lang="en-US" sz="125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`==` checks the heap address, returning `false` for `new String()`.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155830" y="3560268"/>
            <a:ext cx="5845670" cy="1535607"/>
          </a:xfrm>
          <a:prstGeom prst="rect">
            <a:avLst/>
          </a:prstGeom>
          <a:solidFill>
            <a:srgbClr val="ED3D8C">
              <a:alpha val="0"/>
            </a:srgbClr>
          </a:solidFill>
          <a:ln w="9950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11"/>
          <p:cNvSpPr/>
          <p:nvPr/>
        </p:nvSpPr>
        <p:spPr>
          <a:xfrm>
            <a:off x="6365237" y="4097924"/>
            <a:ext cx="5426857" cy="17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56"/>
              <a:buFont typeface="DM Serif Display"/>
              <a:buNone/>
            </a:pPr>
            <a:r>
              <a:rPr lang="en-US" sz="1255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Case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365237" y="4334852"/>
            <a:ext cx="5426857" cy="223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56"/>
              <a:buFont typeface="Inter" panose="02000503000000020004"/>
              <a:buNone/>
            </a:pPr>
            <a:r>
              <a:rPr lang="en-US" sz="1255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`.toUpperCase()` converts winner names to uppercase text.</a:t>
            </a:r>
            <a:endParaRPr sz="1255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Module 6: Collections for Safe, Flexible Data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57200" y="1143000"/>
            <a:ext cx="5581650" cy="14668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12"/>
          <p:cNvSpPr/>
          <p:nvPr/>
        </p:nvSpPr>
        <p:spPr>
          <a:xfrm>
            <a:off x="657225" y="1656588"/>
            <a:ext cx="5181600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2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List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57225" y="1882902"/>
            <a:ext cx="5181600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Arrays upgrade to an auto-resizing `ArrayList`.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153150" y="1143000"/>
            <a:ext cx="5581650" cy="14668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12"/>
          <p:cNvSpPr/>
          <p:nvPr/>
        </p:nvSpPr>
        <p:spPr>
          <a:xfrm>
            <a:off x="6353175" y="1656588"/>
            <a:ext cx="5181600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2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Safety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353175" y="1882902"/>
            <a:ext cx="5181600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parameterized type `&lt;ElectionReport&gt;` blocks corrupt-input bugs.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57200" y="2724150"/>
            <a:ext cx="5581650" cy="14668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2"/>
          <p:cNvSpPr/>
          <p:nvPr/>
        </p:nvSpPr>
        <p:spPr>
          <a:xfrm>
            <a:off x="657225" y="3237738"/>
            <a:ext cx="5181600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2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Loop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57225" y="3464052"/>
            <a:ext cx="5181600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for-each shortcut loops through items one by one.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6153150" y="2724150"/>
            <a:ext cx="5581650" cy="1466850"/>
          </a:xfrm>
          <a:prstGeom prst="rect">
            <a:avLst/>
          </a:prstGeom>
          <a:solidFill>
            <a:srgbClr val="ED3D8C">
              <a:alpha val="0"/>
            </a:srgbClr>
          </a:solidFill>
          <a:ln w="9525" cap="flat" cmpd="sng">
            <a:solidFill>
              <a:srgbClr val="ED3D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12"/>
          <p:cNvSpPr/>
          <p:nvPr/>
        </p:nvSpPr>
        <p:spPr>
          <a:xfrm>
            <a:off x="6353175" y="3237738"/>
            <a:ext cx="5181600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2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Filter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353175" y="3464052"/>
            <a:ext cx="5181600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Inline `if` switches isolate active leaders.</a:t>
            </a:r>
            <a:endParaRPr sz="12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Console Output Walkthrough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81000" y="6124575"/>
            <a:ext cx="11430000" cy="7620"/>
          </a:xfrm>
          <a:prstGeom prst="rect">
            <a:avLst/>
          </a:prstGeom>
          <a:solidFill>
            <a:srgbClr val="2A2428"/>
          </a:solidFill>
          <a:ln w="12700" cap="flat" cmpd="sng">
            <a:solidFill>
              <a:srgbClr val="2A242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13"/>
          <p:cNvSpPr/>
          <p:nvPr/>
        </p:nvSpPr>
        <p:spPr>
          <a:xfrm>
            <a:off x="390525" y="1143000"/>
            <a:ext cx="11420475" cy="4610100"/>
          </a:xfrm>
          <a:prstGeom prst="roundRect">
            <a:avLst>
              <a:gd name="adj" fmla="val 521"/>
            </a:avLst>
          </a:prstGeom>
          <a:solidFill>
            <a:srgbClr val="0605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217" name="Google Shape;217;p13"/>
          <p:cNvGraphicFramePr/>
          <p:nvPr/>
        </p:nvGraphicFramePr>
        <p:xfrm>
          <a:off x="390525" y="1143000"/>
          <a:ext cx="11420475" cy="4610025"/>
        </p:xfrm>
        <a:graphic>
          <a:graphicData uri="http://schemas.openxmlformats.org/drawingml/2006/table">
            <a:tbl>
              <a:tblPr>
                <a:noFill/>
                <a:tableStyleId>{17094474-1ACC-4CA3-B1BC-11F7EB5117D5}</a:tableStyleId>
              </a:tblPr>
              <a:tblGrid>
                <a:gridCol w="3081775"/>
                <a:gridCol w="8338700"/>
              </a:tblGrid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11827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Stage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3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11827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Output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3D8C"/>
                    </a:solidFill>
                  </a:tcPr>
                </a:tc>
              </a:tr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Setup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Enter number of voters:</a:t>
                      </a:r>
                      <a:r>
                        <a:rPr lang="en-US" sz="1350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5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</a:tr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Filter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Voter 4 -&gt; choice: 4 ✕ Invalid choice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</a:tr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Tally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Rahul: 2 | Priya: 1 | Arjun: 1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</a:tr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Object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u="none" strike="noStrike" cap="none">
                          <a:solidFill>
                            <a:srgbClr val="C9C2C6"/>
                          </a:solidFill>
                          <a:highlight>
                            <a:srgbClr val="000000"/>
                          </a:highlight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CandidateData[Name = Rahul, TotalVotes = 2]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</a:tr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Strings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.equals() is true | == is false | Case: RAHUL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</a:tr>
              <a:tr h="65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Collection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C2C6"/>
                        </a:buClr>
                        <a:buSzPts val="1350"/>
                        <a:buFont typeface="Inter" panose="02000503000000020004"/>
                        <a:buNone/>
                      </a:pPr>
                      <a:r>
                        <a:rPr lang="en-US" sz="1350" u="none" strike="noStrike" cap="none">
                          <a:solidFill>
                            <a:srgbClr val="C9C2C6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Shortcut filter loop isolates winner: </a:t>
                      </a:r>
                      <a:r>
                        <a:rPr lang="en-US" sz="1350" b="1" u="none" strike="noStrike" cap="none">
                          <a:solidFill>
                            <a:srgbClr val="BCE29F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Rahul</a:t>
                      </a:r>
                      <a:endParaRPr sz="1350" u="none" strike="noStrike" cap="none"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F89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050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2700"/>
              <a:buFont typeface="DM Serif Display"/>
              <a:buNone/>
            </a:pPr>
            <a:r>
              <a:rPr lang="en-US" sz="2700" b="1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Scope, Limits and Future Work</a:t>
            </a:r>
            <a:endParaRPr sz="2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57200" y="1431608"/>
            <a:ext cx="85725" cy="85725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225" name="Google Shape;225;p14"/>
          <p:cNvSpPr/>
          <p:nvPr/>
        </p:nvSpPr>
        <p:spPr>
          <a:xfrm>
            <a:off x="695325" y="1389888"/>
            <a:ext cx="17459325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Done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95325" y="1616202"/>
            <a:ext cx="17459325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Manual layouts have moved over to a validation-guarded app.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57200" y="2498408"/>
            <a:ext cx="85725" cy="85725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4"/>
          <p:cNvSpPr/>
          <p:nvPr/>
        </p:nvSpPr>
        <p:spPr>
          <a:xfrm>
            <a:off x="695325" y="2456688"/>
            <a:ext cx="17459325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Scale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95325" y="2683002"/>
            <a:ext cx="17459325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Code structures will expand to allow dynamic runtime additions.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57200" y="3565208"/>
            <a:ext cx="85725" cy="85725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231" name="Google Shape;231;p14"/>
          <p:cNvSpPr/>
          <p:nvPr/>
        </p:nvSpPr>
        <p:spPr>
          <a:xfrm>
            <a:off x="695325" y="3523488"/>
            <a:ext cx="17459325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Disk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695325" y="3749802"/>
            <a:ext cx="17459325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Files, rows, and values will be stored using the `java.nio.file` packages.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457200" y="4632008"/>
            <a:ext cx="85725" cy="85725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4"/>
          <p:cNvSpPr/>
          <p:nvPr/>
        </p:nvSpPr>
        <p:spPr>
          <a:xfrm>
            <a:off x="695325" y="4590288"/>
            <a:ext cx="17459325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GUI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695325" y="4816602"/>
            <a:ext cx="17459325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 console prompts will be swapped for clear Swing screens.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57200" y="5698807"/>
            <a:ext cx="85725" cy="85725"/>
          </a:xfrm>
          <a:prstGeom prst="ellipse">
            <a:avLst/>
          </a:prstGeom>
          <a:solidFill>
            <a:srgbClr val="ED3D8C"/>
          </a:solidFill>
          <a:ln w="12700" cap="flat" cmpd="sng">
            <a:solidFill>
              <a:srgbClr val="ED3D8C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4"/>
          <p:cNvSpPr/>
          <p:nvPr/>
        </p:nvSpPr>
        <p:spPr>
          <a:xfrm>
            <a:off x="695325" y="5657088"/>
            <a:ext cx="17459325" cy="16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F5EDF1"/>
              </a:buClr>
              <a:buSzPts val="1200"/>
              <a:buFont typeface="DM Serif Display"/>
              <a:buNone/>
            </a:pPr>
            <a:r>
              <a:rPr lang="en-US" sz="1700" b="0" i="0" u="none" strike="noStrike" cap="none">
                <a:solidFill>
                  <a:srgbClr val="F5EDF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Login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695325" y="5883402"/>
            <a:ext cx="17459325" cy="21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2C6"/>
              </a:buClr>
              <a:buSzPts val="1200"/>
              <a:buFont typeface="Inter" panose="02000503000000020004"/>
              <a:buNone/>
            </a:pPr>
            <a:r>
              <a:rPr lang="en-US" sz="1700" b="0" i="0" u="none" strike="noStrike" cap="none">
                <a:solidFill>
                  <a:srgbClr val="C9C2C6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secure credentials check will be added to prevent fraud.</a:t>
            </a:r>
            <a:endParaRPr sz="170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507"/>
        </a:solidFill>
        <a:effectLst/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/>
          <p:nvPr/>
        </p:nvSpPr>
        <p:spPr>
          <a:xfrm>
            <a:off x="0" y="0"/>
            <a:ext cx="12192000" cy="91500"/>
          </a:xfrm>
          <a:prstGeom prst="rect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4800728" y="1005840"/>
            <a:ext cx="2560200" cy="2560200"/>
          </a:xfrm>
          <a:prstGeom prst="ellipse">
            <a:avLst/>
          </a:prstGeom>
          <a:solidFill>
            <a:srgbClr val="1E66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5257940" y="1463040"/>
            <a:ext cx="1645800" cy="1645800"/>
          </a:xfrm>
          <a:prstGeom prst="ellipse">
            <a:avLst/>
          </a:prstGeom>
          <a:solidFill>
            <a:srgbClr val="2BC1D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5257940" y="1828800"/>
            <a:ext cx="1645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✓</a:t>
            </a:r>
            <a:endParaRPr lang="en-US" sz="44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2011734" y="3794760"/>
            <a:ext cx="813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8FB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lang="en-US" sz="3800" b="1" i="0" u="none" strike="noStrike" cap="none">
              <a:solidFill>
                <a:srgbClr val="F8FB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2103176" y="4526280"/>
            <a:ext cx="7955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0D6E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Student Council Election System</a:t>
            </a:r>
            <a:endParaRPr lang="en-US" sz="1700" b="0" i="0" u="none" strike="noStrike" cap="none">
              <a:solidFill>
                <a:srgbClr val="C0D6E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3627</Words>
  <Application>WPS Presentation</Application>
  <PresentationFormat/>
  <Paragraphs>237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Inter</vt:lpstr>
      <vt:lpstr>Calibri</vt:lpstr>
      <vt:lpstr>Courier New</vt:lpstr>
      <vt:lpstr>DM Serif Display</vt:lpstr>
      <vt:lpstr>Microsoft YaHei</vt:lpstr>
      <vt:lpstr>Arial Unicode MS</vt:lpstr>
      <vt:lpstr>SlidesAI Simple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Keerthi sagar</cp:lastModifiedBy>
  <cp:revision>1</cp:revision>
  <dcterms:created xsi:type="dcterms:W3CDTF">2026-10-16T06:05:11Z</dcterms:created>
  <dcterms:modified xsi:type="dcterms:W3CDTF">2026-10-16T06:05:11Z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DDEB04E34B214210B79C06F5446DE7AC_13</vt:lpwstr>
  </property>
  <property fmtid="{D5CDD505-2E9C-101B-9397-08002B2CF9AE}" pid="3" name="KSOProductBuildVer">
    <vt:lpwstr>1033-12.1.0.25830</vt:lpwstr>
  </property>
</Properties>
</file>